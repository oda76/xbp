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F5"/>
    <a:srgbClr val="89A7FF"/>
    <a:srgbClr val="89A6FF"/>
    <a:srgbClr val="A1B8FF"/>
    <a:srgbClr val="DAE3FF"/>
    <a:srgbClr val="FFFFFF"/>
    <a:srgbClr val="FA0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3"/>
  </p:normalViewPr>
  <p:slideViewPr>
    <p:cSldViewPr snapToGrid="0">
      <p:cViewPr varScale="1">
        <p:scale>
          <a:sx n="113" d="100"/>
          <a:sy n="113" d="100"/>
        </p:scale>
        <p:origin x="54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E09C61-3818-6903-6C46-577555E62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B7D5AA2-1070-84AD-F4E7-E7DD0964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19C7C1-F398-0C1B-1055-96A2B2DA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453904-25DE-7D72-92C7-B2D34681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210B75-8C03-B3BF-AD2A-53A97C8C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30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296CB-9428-5958-919C-C68F9DA5A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05AC57-6C0A-820B-0C38-6419B9E80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F2001E-CC32-8F40-7A40-D53469C9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F9B3EE-0C51-AC81-6B3B-09D9FF665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C6C2B2-FC6F-59EA-1D62-1AC5893AD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05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1C8352-603A-39DE-4AD1-74025731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BF0BD2-A788-8024-7C0E-119C48A4A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D0F51E-DD08-4B6D-4853-DE93450EE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CFFAB2-4E37-2A56-E4E9-234C1651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F4F88-053C-0C9A-0F9D-FBEEDAE3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755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B262A1-BF2E-CE34-66BF-37DF6901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883F5D-782D-A725-1F1A-F8160A54E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45D738-8804-B6E5-9F31-D5B5E70A2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A41D81-0B1C-581C-DACF-CFB4E54D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30942C-CE38-A2A4-EA0A-2B80681A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A0258C-A145-D631-2AA7-7171ED78A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80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2A827A-92AC-737A-FD56-39425434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2B4423-F65C-F1BA-5580-1FAF26376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DD56CB-9A72-533E-C665-ACAD54147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3E17501-07DC-B034-0D5F-AFA83F948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37BEED2-30A5-FFBF-319A-77B10CE2CE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C7D7384-E06C-15A4-D87F-ADFE142B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944349-9B63-B40D-D25E-57C1DF829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AAC352-D4A4-2669-5489-CD54F323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404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2E41C4-B905-BFD3-D638-0B4B2007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E18965C-B215-252B-E672-BB8CD800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5CE560-C696-2F50-8683-A07C4C0DC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B83D77-A41C-FBA2-687C-3F5E3A41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333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D702566-2518-F000-677B-272F33A8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24604A7-A28E-8384-A85E-F314A6316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98BA3E-DA42-AF11-0387-B407B110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241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79428-1D39-35F6-CEEF-5308F4CD9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9AB213-618E-DDC4-CA91-E34657CD1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86BA51-AA30-2547-BCBD-97EC1C711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5A482E-13F7-2832-F62E-A9FDD3BC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C3F61C-C399-8673-2567-40AC48FE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459FA4-CBD9-1097-FC45-BFBBDE63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21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341A45-4907-B439-A754-F8F1305C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C9302CC-07E9-6E94-A2D5-B19CB80FB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0C41D7-2160-25BF-ACDC-A412E1211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F364C5-EF21-C272-E9B3-25CE921E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4CEECC-5E13-D260-64DA-451E4432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6F819F-55F7-AB4A-A661-7540DE54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55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C606A-F0CE-170C-024A-713E4F47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43654B-5C99-B1A0-5FC5-33AA609A3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C40F04-5198-0579-5BB2-5772B241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194A3A-DC17-EE9C-6F73-5D25EA88A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534FB2-75FC-4E9C-10FF-6B560368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380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D731A5-9477-7C1E-4B72-F75E04C2A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9CFEBA-2EF0-CEA7-E3E5-0B0D2120F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09B381-50EB-A31A-63AE-A8020F65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01BD75-BA46-53CE-6E2E-2E4B25878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687163-41C0-BC8B-952D-45719645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61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0707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BC8FBBD-8E6E-DDAE-562A-C9B8F76C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897931-1C45-73CE-CD24-54ADA29A3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71B5F7-62B3-8B5E-6F9B-EE1642E73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87DFE-6811-4779-B907-018B8EFA0505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8A6CA2-F1B2-9468-FF2D-5C7507DA3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6E57F9-9A2E-625B-1F76-11C5577D9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CF1B5-5909-41C9-8A12-67E9CC4F5B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69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5F259E-FDF3-D636-815E-6ECAEC143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63" y="-642435"/>
            <a:ext cx="10772227" cy="814287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772CFCB-D44D-3E6C-342E-0E42C38D9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1457" y="-2976161"/>
            <a:ext cx="9144000" cy="23876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9B952631-6E72-9DC4-ECA0-EE5D29510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886006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b="1">
                <a:ea typeface="游ゴシック"/>
              </a:rPr>
              <a:t>おだ・やぎ・ぶち・ｽｽﾞｷ</a:t>
            </a:r>
          </a:p>
        </p:txBody>
      </p:sp>
    </p:spTree>
    <p:extLst>
      <p:ext uri="{BB962C8B-B14F-4D97-AF65-F5344CB8AC3E}">
        <p14:creationId xmlns:p14="http://schemas.microsoft.com/office/powerpoint/2010/main" val="296304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38D4FE-EEB9-7727-CABD-DFB304AE7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ea typeface="游ゴシック Light"/>
              </a:rPr>
              <a:t>取引の全体の流れ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EB754C-1DBF-11A9-9636-0855F20FA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</a:endParaRPr>
          </a:p>
          <a:p>
            <a:pPr marL="0" indent="0">
              <a:buNone/>
            </a:pPr>
            <a:endParaRPr lang="ja-JP" altLang="en-US">
              <a:ea typeface="游ゴシック"/>
            </a:endParaRPr>
          </a:p>
          <a:p>
            <a:pPr marL="514350" indent="-514350">
              <a:buAutoNum type="arabicPeriod"/>
            </a:pPr>
            <a:endParaRPr lang="ja-JP" altLang="en-US">
              <a:ea typeface="游ゴシック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C5A277-1BEE-0B80-2EB2-0FC48C963986}"/>
              </a:ext>
            </a:extLst>
          </p:cNvPr>
          <p:cNvSpPr/>
          <p:nvPr/>
        </p:nvSpPr>
        <p:spPr>
          <a:xfrm>
            <a:off x="2423408" y="2004933"/>
            <a:ext cx="2388432" cy="1239187"/>
          </a:xfrm>
          <a:prstGeom prst="roundRect">
            <a:avLst/>
          </a:prstGeom>
          <a:ln>
            <a:solidFill>
              <a:srgbClr val="FAF5F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700">
                <a:ea typeface="+mn-lt"/>
                <a:cs typeface="+mn-lt"/>
              </a:rPr>
              <a:t>ユーザー登録</a:t>
            </a:r>
            <a:endParaRPr lang="en-US" sz="27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517742-5E91-5178-265C-DB677B8B5800}"/>
              </a:ext>
            </a:extLst>
          </p:cNvPr>
          <p:cNvSpPr/>
          <p:nvPr/>
        </p:nvSpPr>
        <p:spPr>
          <a:xfrm>
            <a:off x="5808687" y="2004932"/>
            <a:ext cx="2163580" cy="1270415"/>
          </a:xfrm>
          <a:prstGeom prst="roundRect">
            <a:avLst/>
          </a:prstGeom>
          <a:ln>
            <a:solidFill>
              <a:srgbClr val="FAF5F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sz="2800">
                <a:ea typeface="+mn-lt"/>
                <a:cs typeface="+mn-lt"/>
              </a:rPr>
              <a:t>商品を出品</a:t>
            </a:r>
            <a:endParaRPr lang="en-US" altLang="ja-JP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ACC5FB-59FE-6FE1-1499-ADCE19218CC7}"/>
              </a:ext>
            </a:extLst>
          </p:cNvPr>
          <p:cNvSpPr/>
          <p:nvPr/>
        </p:nvSpPr>
        <p:spPr>
          <a:xfrm>
            <a:off x="9081539" y="1973703"/>
            <a:ext cx="2113612" cy="1276663"/>
          </a:xfrm>
          <a:prstGeom prst="roundRect">
            <a:avLst/>
          </a:prstGeom>
          <a:ln>
            <a:solidFill>
              <a:srgbClr val="FAF5F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ja-JP" altLang="en-US" sz="2800">
              <a:latin typeface="Arial"/>
              <a:ea typeface="游ゴシック"/>
              <a:cs typeface="Arial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ja-JP" sz="2800">
                <a:latin typeface="Arial"/>
                <a:ea typeface="游ゴシック"/>
                <a:cs typeface="Arial"/>
              </a:rPr>
              <a:t>商品を購入</a:t>
            </a:r>
            <a:endParaRPr lang="en-US" altLang="ja-JP" sz="2800">
              <a:latin typeface="Arial"/>
              <a:ea typeface="游ゴシック"/>
              <a:cs typeface="Arial"/>
            </a:endParaRPr>
          </a:p>
          <a:p>
            <a:pPr algn="ctr"/>
            <a:endParaRPr lang="ja-JP" altLang="en-US" sz="2800">
              <a:ea typeface="游ゴシック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9B5E5D9-41FC-C2B4-F25C-20D1785AEA29}"/>
              </a:ext>
            </a:extLst>
          </p:cNvPr>
          <p:cNvSpPr/>
          <p:nvPr/>
        </p:nvSpPr>
        <p:spPr>
          <a:xfrm>
            <a:off x="1036819" y="2329721"/>
            <a:ext cx="1060704" cy="91440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E773BD4F-EFBE-E717-48D6-CB751D565605}"/>
              </a:ext>
            </a:extLst>
          </p:cNvPr>
          <p:cNvSpPr/>
          <p:nvPr/>
        </p:nvSpPr>
        <p:spPr>
          <a:xfrm>
            <a:off x="1167983" y="1867524"/>
            <a:ext cx="794478" cy="75700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C734B0B-0D7B-D94F-57F9-F3A9D9E28381}"/>
              </a:ext>
            </a:extLst>
          </p:cNvPr>
          <p:cNvSpPr/>
          <p:nvPr/>
        </p:nvSpPr>
        <p:spPr>
          <a:xfrm>
            <a:off x="4959248" y="2348460"/>
            <a:ext cx="722325" cy="578319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D311C42-6C49-C1D3-52C7-8345D84FD91A}"/>
              </a:ext>
            </a:extLst>
          </p:cNvPr>
          <p:cNvSpPr/>
          <p:nvPr/>
        </p:nvSpPr>
        <p:spPr>
          <a:xfrm>
            <a:off x="8213362" y="2348459"/>
            <a:ext cx="722325" cy="578319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7EE7B84-38B5-8072-BB2D-6F5EC2997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24" y="3563872"/>
            <a:ext cx="4049806" cy="1634516"/>
          </a:xfrm>
          <a:prstGeom prst="rect">
            <a:avLst/>
          </a:prstGeom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EB3B9124-6021-767D-4C8F-A753C7519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03" y="3561502"/>
            <a:ext cx="4301302" cy="1630739"/>
          </a:xfrm>
          <a:prstGeom prst="rect">
            <a:avLst/>
          </a:prstGeom>
        </p:spPr>
      </p:pic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88718329-A34E-E25C-8594-70DCF0FA3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449" y="5672952"/>
            <a:ext cx="6061100" cy="1010072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344967BE-80F1-5734-7A2B-E1BF4B0588DC}"/>
              </a:ext>
            </a:extLst>
          </p:cNvPr>
          <p:cNvSpPr/>
          <p:nvPr/>
        </p:nvSpPr>
        <p:spPr>
          <a:xfrm rot="7920000">
            <a:off x="9667942" y="5504071"/>
            <a:ext cx="518737" cy="578319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A90F76E-02D8-F2AF-FCB5-6F9B62559B9F}"/>
              </a:ext>
            </a:extLst>
          </p:cNvPr>
          <p:cNvSpPr/>
          <p:nvPr/>
        </p:nvSpPr>
        <p:spPr>
          <a:xfrm>
            <a:off x="5552560" y="4145849"/>
            <a:ext cx="722325" cy="578319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2356B5-F140-AF1E-5C79-A43AC8B9F92D}"/>
              </a:ext>
            </a:extLst>
          </p:cNvPr>
          <p:cNvSpPr txBox="1"/>
          <p:nvPr/>
        </p:nvSpPr>
        <p:spPr>
          <a:xfrm>
            <a:off x="156004" y="4234530"/>
            <a:ext cx="881825" cy="4001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ea typeface="游ゴシック"/>
              </a:rPr>
              <a:t>DB</a:t>
            </a:r>
            <a:r>
              <a:rPr lang="ja-JP" altLang="en-US" sz="2000">
                <a:ea typeface="游ゴシック"/>
              </a:rPr>
              <a:t>内</a:t>
            </a:r>
            <a:endParaRPr lang="en-US" sz="2000"/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09ED48D6-C8F1-46AA-C9DF-940121681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160" y="3572033"/>
            <a:ext cx="4390116" cy="162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2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2F1E-14B7-B31B-A34B-3D994EE6A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ea typeface="游ゴシック Light"/>
              </a:rPr>
              <a:t>１.ユーザー登録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7FDE7-C8E8-1474-2179-06287C3A961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FFF">
              <a:alpha val="28000"/>
            </a:srgb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鈴木さんがユーザー登録する</a:t>
            </a:r>
            <a:endParaRPr lang="en-US" altLang="ja-JP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　　　⇩</a:t>
            </a:r>
            <a:endParaRPr lang="en-US" altLang="ja-JP">
              <a:ea typeface="游ゴシック"/>
            </a:endParaRPr>
          </a:p>
          <a:p>
            <a:r>
              <a:rPr lang="ja-JP" altLang="en-US">
                <a:ea typeface="游ゴシック"/>
              </a:rPr>
              <a:t>ユーザーテーブルにレコード追加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→メルカリの顧客情報として管理される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A204BCC-7E85-14EB-D2B9-E38D8A475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10" y="3848894"/>
            <a:ext cx="4875790" cy="205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1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A23E-97DF-66E0-FE05-4979F3BA2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ea typeface="游ゴシック Light"/>
              </a:rPr>
              <a:t>２.商品を出品</a:t>
            </a:r>
            <a:endParaRPr kumimoji="1"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DC11C-B20D-4D91-ABC0-0347119C235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AF5F5">
              <a:alpha val="25000"/>
            </a:srgb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鈴木さんが商品を出品する</a:t>
            </a:r>
            <a:endParaRPr lang="en-US" altLang="ja-JP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　　　⇩</a:t>
            </a:r>
            <a:endParaRPr lang="en-US" altLang="ja-JP">
              <a:ea typeface="游ゴシック"/>
            </a:endParaRPr>
          </a:p>
          <a:p>
            <a:r>
              <a:rPr lang="ja-JP" altLang="en-US">
                <a:ea typeface="游ゴシック"/>
              </a:rPr>
              <a:t>商品テーブルにレコード追加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→鈴木さんの出品物一覧にこの商品が載る</a:t>
            </a:r>
          </a:p>
          <a:p>
            <a:pPr marL="0" indent="0">
              <a:buNone/>
            </a:pPr>
            <a:endParaRPr lang="ja-JP" altLang="en-US">
              <a:ea typeface="游ゴシック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3F1CAFC4-32A4-B188-F03E-4AE00DADB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991" y="4001294"/>
            <a:ext cx="555307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6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B805-4E15-74E4-20EE-9517DC120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ea typeface="游ゴシック Light"/>
              </a:rPr>
              <a:t>３.商品を検索</a:t>
            </a:r>
            <a:endParaRPr lang="en-US" b="1">
              <a:ea typeface="游ゴシック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CDBAF-3AF0-6B83-021C-701C9B1FC41B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AF5F5">
              <a:alpha val="21000"/>
            </a:srgb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他のユーザーが商品を検索する</a:t>
            </a:r>
            <a:endParaRPr lang="en-US" altLang="ja-JP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　　　⇩</a:t>
            </a:r>
            <a:endParaRPr lang="en-US" altLang="ja-JP">
              <a:ea typeface="游ゴシック"/>
            </a:endParaRPr>
          </a:p>
          <a:p>
            <a:r>
              <a:rPr lang="ja-JP" altLang="en-US">
                <a:ea typeface="游ゴシック"/>
              </a:rPr>
              <a:t>ユーザーテーブルと商品テーブルをJOIN（結合）して商品名などを表示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→何をいくらで売っているか一目でわかる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814EDCB-B98F-03A6-2198-A0A1E6932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92" y="4496058"/>
            <a:ext cx="3416009" cy="1442647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FFB20581-384E-0709-F6D6-3FC30268D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489" y="4435639"/>
            <a:ext cx="4056886" cy="1503066"/>
          </a:xfrm>
          <a:prstGeom prst="rect">
            <a:avLst/>
          </a:prstGeom>
        </p:spPr>
      </p:pic>
      <p:sp>
        <p:nvSpPr>
          <p:cNvPr id="6" name="加算記号 5">
            <a:extLst>
              <a:ext uri="{FF2B5EF4-FFF2-40B4-BE49-F238E27FC236}">
                <a16:creationId xmlns:a16="http://schemas.microsoft.com/office/drawing/2014/main" id="{BE88C57F-05E2-AEF2-8AA7-CCB9DC0BEB32}"/>
              </a:ext>
            </a:extLst>
          </p:cNvPr>
          <p:cNvSpPr/>
          <p:nvPr/>
        </p:nvSpPr>
        <p:spPr>
          <a:xfrm>
            <a:off x="4541593" y="4933740"/>
            <a:ext cx="567282" cy="567282"/>
          </a:xfrm>
          <a:prstGeom prst="mathPlus">
            <a:avLst/>
          </a:prstGeom>
          <a:solidFill>
            <a:srgbClr val="89A7FF"/>
          </a:solidFill>
          <a:ln>
            <a:solidFill>
              <a:srgbClr val="89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3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29EF-D5B2-4E83-C76A-6C758F565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ea typeface="+mj-lt"/>
                <a:cs typeface="+mj-lt"/>
              </a:rPr>
              <a:t>４.商品を購入</a:t>
            </a:r>
            <a:endParaRPr lang="en-US" b="1">
              <a:ea typeface="游ゴシック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B1FF0-882B-A91D-AFF3-970067586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656"/>
            <a:ext cx="10515600" cy="4357307"/>
          </a:xfrm>
          <a:solidFill>
            <a:srgbClr val="FFFFFF">
              <a:alpha val="24000"/>
            </a:srgb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宮城さんが商品を購入する</a:t>
            </a:r>
            <a:endParaRPr lang="en-US" altLang="ja-JP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　　　⇩</a:t>
            </a:r>
            <a:endParaRPr lang="en-US" altLang="ja-JP">
              <a:ea typeface="游ゴシック"/>
            </a:endParaRPr>
          </a:p>
          <a:p>
            <a:r>
              <a:rPr lang="ja-JP" altLang="en-US">
                <a:ea typeface="游ゴシック"/>
              </a:rPr>
              <a:t>購入テーブルにレコード追加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→購入履歴がつく</a:t>
            </a:r>
            <a:endParaRPr lang="en-US" altLang="ja-JP">
              <a:ea typeface="游ゴシック"/>
            </a:endParaRPr>
          </a:p>
          <a:p>
            <a:pPr marL="0" indent="0">
              <a:buNone/>
            </a:pPr>
            <a:endParaRPr lang="en-US" altLang="ja-JP" sz="800">
              <a:ea typeface="游ゴシック"/>
            </a:endParaRPr>
          </a:p>
          <a:p>
            <a:r>
              <a:rPr lang="ja-JP" altLang="en-US">
                <a:ea typeface="游ゴシック"/>
              </a:rPr>
              <a:t>商品テーブルを更新</a:t>
            </a:r>
            <a:endParaRPr lang="en-US" altLang="ja-JP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→出品中から売り切れに変更される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568F0B-9856-DB94-C3E3-85064387F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5091273"/>
            <a:ext cx="6096000" cy="108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7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93984E-3AD2-1238-6A9C-703DC55C2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5421" y="4959588"/>
            <a:ext cx="6096000" cy="10856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3C5FBE-169D-670E-69AA-91D5B543A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50" y="1883876"/>
            <a:ext cx="4352925" cy="1838325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5B61B99A-531C-02A3-6924-984683948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188" y="1774339"/>
            <a:ext cx="5553075" cy="205740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5D0E5C0-5D4C-3037-C8C5-D1F602358439}"/>
              </a:ext>
            </a:extLst>
          </p:cNvPr>
          <p:cNvSpPr txBox="1"/>
          <p:nvPr/>
        </p:nvSpPr>
        <p:spPr>
          <a:xfrm>
            <a:off x="2992512" y="3817963"/>
            <a:ext cx="2345514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89A7FF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ユーザー情報を管理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9B688B3-D532-2847-1F4B-1B878D5A15E2}"/>
              </a:ext>
            </a:extLst>
          </p:cNvPr>
          <p:cNvSpPr txBox="1"/>
          <p:nvPr/>
        </p:nvSpPr>
        <p:spPr>
          <a:xfrm>
            <a:off x="9887770" y="3971504"/>
            <a:ext cx="1800493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89A7FF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商品情報を管理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C696A43-6722-542C-FD6D-458974C7E8C3}"/>
              </a:ext>
            </a:extLst>
          </p:cNvPr>
          <p:cNvSpPr txBox="1"/>
          <p:nvPr/>
        </p:nvSpPr>
        <p:spPr>
          <a:xfrm>
            <a:off x="5856766" y="6183103"/>
            <a:ext cx="295465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89A7FF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誰が何を購入したかを管理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B2F8960-A623-E8B3-56AB-C7BAC08E1E7B}"/>
              </a:ext>
            </a:extLst>
          </p:cNvPr>
          <p:cNvCxnSpPr>
            <a:cxnSpLocks/>
          </p:cNvCxnSpPr>
          <p:nvPr/>
        </p:nvCxnSpPr>
        <p:spPr>
          <a:xfrm>
            <a:off x="2322674" y="1589014"/>
            <a:ext cx="5975931" cy="0"/>
          </a:xfrm>
          <a:prstGeom prst="line">
            <a:avLst/>
          </a:prstGeom>
          <a:ln w="76200">
            <a:solidFill>
              <a:srgbClr val="89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カギ線コネクタ 21">
            <a:extLst>
              <a:ext uri="{FF2B5EF4-FFF2-40B4-BE49-F238E27FC236}">
                <a16:creationId xmlns:a16="http://schemas.microsoft.com/office/drawing/2014/main" id="{37DCDEB9-6CBD-DF30-2CD8-0490D4F37AFD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51680" y="4068442"/>
            <a:ext cx="2465400" cy="691349"/>
          </a:xfrm>
          <a:prstGeom prst="bentConnector3">
            <a:avLst/>
          </a:prstGeom>
          <a:ln w="76200">
            <a:solidFill>
              <a:srgbClr val="8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6DFB8670-92F3-8C7A-A680-848A68A77E42}"/>
              </a:ext>
            </a:extLst>
          </p:cNvPr>
          <p:cNvCxnSpPr>
            <a:cxnSpLocks/>
          </p:cNvCxnSpPr>
          <p:nvPr/>
        </p:nvCxnSpPr>
        <p:spPr>
          <a:xfrm flipV="1">
            <a:off x="6679690" y="3615661"/>
            <a:ext cx="0" cy="457347"/>
          </a:xfrm>
          <a:prstGeom prst="line">
            <a:avLst/>
          </a:prstGeom>
          <a:ln w="76200">
            <a:solidFill>
              <a:srgbClr val="89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1E22650A-72B5-CBE4-E476-4DFEC3B1742A}"/>
              </a:ext>
            </a:extLst>
          </p:cNvPr>
          <p:cNvCxnSpPr>
            <a:cxnSpLocks/>
          </p:cNvCxnSpPr>
          <p:nvPr/>
        </p:nvCxnSpPr>
        <p:spPr>
          <a:xfrm flipV="1">
            <a:off x="4288130" y="4722570"/>
            <a:ext cx="0" cy="520995"/>
          </a:xfrm>
          <a:prstGeom prst="line">
            <a:avLst/>
          </a:prstGeom>
          <a:ln w="76200">
            <a:solidFill>
              <a:srgbClr val="89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70106E76-F1D8-54D6-EDC2-78EFADDBDE4D}"/>
              </a:ext>
            </a:extLst>
          </p:cNvPr>
          <p:cNvCxnSpPr>
            <a:cxnSpLocks/>
          </p:cNvCxnSpPr>
          <p:nvPr/>
        </p:nvCxnSpPr>
        <p:spPr>
          <a:xfrm flipV="1">
            <a:off x="8267134" y="1551256"/>
            <a:ext cx="0" cy="687610"/>
          </a:xfrm>
          <a:prstGeom prst="line">
            <a:avLst/>
          </a:prstGeom>
          <a:ln w="76200">
            <a:solidFill>
              <a:srgbClr val="89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56A698F-4A2F-597A-BE3A-30C359950462}"/>
              </a:ext>
            </a:extLst>
          </p:cNvPr>
          <p:cNvCxnSpPr>
            <a:cxnSpLocks/>
          </p:cNvCxnSpPr>
          <p:nvPr/>
        </p:nvCxnSpPr>
        <p:spPr>
          <a:xfrm flipV="1">
            <a:off x="2355616" y="1551729"/>
            <a:ext cx="0" cy="726923"/>
          </a:xfrm>
          <a:prstGeom prst="line">
            <a:avLst/>
          </a:prstGeom>
          <a:ln w="76200">
            <a:solidFill>
              <a:srgbClr val="89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itle 1">
            <a:extLst>
              <a:ext uri="{FF2B5EF4-FFF2-40B4-BE49-F238E27FC236}">
                <a16:creationId xmlns:a16="http://schemas.microsoft.com/office/drawing/2014/main" id="{7CA223D0-E231-B52C-2E79-EE3D9C0A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ja-JP" altLang="en-US" b="1">
                <a:ea typeface="+mj-lt"/>
                <a:cs typeface="+mj-lt"/>
              </a:rPr>
              <a:t>５</a:t>
            </a:r>
            <a:r>
              <a:rPr lang="en-US" altLang="ja-JP" b="1">
                <a:ea typeface="+mj-lt"/>
                <a:cs typeface="+mj-lt"/>
              </a:rPr>
              <a:t>.</a:t>
            </a:r>
            <a:r>
              <a:rPr lang="ja-JP" altLang="en-US" b="1">
                <a:ea typeface="+mj-lt"/>
                <a:cs typeface="+mj-lt"/>
              </a:rPr>
              <a:t>リレーション</a:t>
            </a:r>
            <a:endParaRPr lang="en-US" b="1">
              <a:ea typeface="游ゴシック Light"/>
            </a:endParaRPr>
          </a:p>
        </p:txBody>
      </p:sp>
    </p:spTree>
    <p:extLst>
      <p:ext uri="{BB962C8B-B14F-4D97-AF65-F5344CB8AC3E}">
        <p14:creationId xmlns:p14="http://schemas.microsoft.com/office/powerpoint/2010/main" val="1517154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DAD07C7111B7B42AED4358E012D8E19" ma:contentTypeVersion="9" ma:contentTypeDescription="新しいドキュメントを作成します。" ma:contentTypeScope="" ma:versionID="29aef13cbe7d12cb1b163ee8cdacbfaf">
  <xsd:schema xmlns:xsd="http://www.w3.org/2001/XMLSchema" xmlns:xs="http://www.w3.org/2001/XMLSchema" xmlns:p="http://schemas.microsoft.com/office/2006/metadata/properties" xmlns:ns3="5d6576c9-1aa2-465d-9044-d3061cce9cde" targetNamespace="http://schemas.microsoft.com/office/2006/metadata/properties" ma:root="true" ma:fieldsID="d9a072b30ba52530d972ce6b01745d25" ns3:_="">
    <xsd:import namespace="5d6576c9-1aa2-465d-9044-d3061cce9cd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576c9-1aa2-465d-9044-d3061cce9cd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6576c9-1aa2-465d-9044-d3061cce9cde" xsi:nil="true"/>
  </documentManagement>
</p:properties>
</file>

<file path=customXml/itemProps1.xml><?xml version="1.0" encoding="utf-8"?>
<ds:datastoreItem xmlns:ds="http://schemas.openxmlformats.org/officeDocument/2006/customXml" ds:itemID="{A0FB7B26-D634-42D8-8C67-C9B63EE31650}">
  <ds:schemaRefs>
    <ds:schemaRef ds:uri="5d6576c9-1aa2-465d-9044-d3061cce9c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9825260-00BB-4BB4-A0F1-74E8FD3200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D24DA1-5943-44D1-AFC7-F0371590485B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5d6576c9-1aa2-465d-9044-d3061cce9cde"/>
    <ds:schemaRef ds:uri="http://schemas.microsoft.com/office/infopath/2007/PartnerControl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Macintosh PowerPoint</Application>
  <PresentationFormat>ワイド画面</PresentationFormat>
  <Paragraphs>35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取引の全体の流れ</vt:lpstr>
      <vt:lpstr>１.ユーザー登録</vt:lpstr>
      <vt:lpstr>２.商品を出品</vt:lpstr>
      <vt:lpstr>３.商品を検索</vt:lpstr>
      <vt:lpstr>４.商品を購入</vt:lpstr>
      <vt:lpstr>５.リレーション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202501902</dc:creator>
  <cp:lastModifiedBy>202501930</cp:lastModifiedBy>
  <cp:revision>2</cp:revision>
  <dcterms:created xsi:type="dcterms:W3CDTF">2026-05-18T04:24:23Z</dcterms:created>
  <dcterms:modified xsi:type="dcterms:W3CDTF">2026-07-13T15:42:05Z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0x0101000DAD07C7111B7B42AED4358E012D8E19</vt:lpwstr>
  </property>
</Properties>
</file>